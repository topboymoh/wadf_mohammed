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2" r:id="rId2"/>
    <p:sldId id="283" r:id="rId3"/>
    <p:sldId id="284"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4" autoAdjust="0"/>
  </p:normalViewPr>
  <p:slideViewPr>
    <p:cSldViewPr snapToGrid="0">
      <p:cViewPr varScale="1">
        <p:scale>
          <a:sx n="59" d="100"/>
          <a:sy n="59" d="100"/>
        </p:scale>
        <p:origin x="940"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1F4B8-9CA4-0952-8EB1-46BA122C4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43CAC8D-28F6-6585-429E-474F02BEB2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E2CC1A-486D-5E96-466C-C45BC9B08329}"/>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3871A46E-4746-4A8E-0BA9-72D0147A77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F02D95-7C1B-E683-6C60-CD1E1339434F}"/>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4786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6BF1-8F0E-BEC7-FFB9-6616058B84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34A176F-9B15-80E4-876D-C4B04DE1B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4B9345-0C88-4893-B489-785E40A585E1}"/>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F69C436E-9F2C-6080-9306-16BB6B853B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D84D94-9F0D-F2AB-1BC1-2E604702F4D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885777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BE8F-4AD1-0D0F-E328-2487319ED6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7B8D72A-E8CA-662D-4D35-18BE9F85E3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ED0972-B39C-0191-CF64-F3EF7745FED9}"/>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607F9B55-4DD5-2C53-C2FB-FA895E8D88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420F9B-DD5F-9C5C-05FD-8646C843E65A}"/>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3835333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473D-2C48-FEF3-FDC9-7D71A643CA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E602F1-6B76-579F-DB89-AC4ADD2901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45B2CE4-A37E-C3E6-39B2-742D34D244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20112AE-01CB-A013-A6EA-A7694866CE30}"/>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F635CD07-C0C3-4FE2-6D8A-57BB35DD67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D01CE4-90C1-67BC-DCFF-05FCE2AA6662}"/>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965002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C9CFB-87AB-0976-96A3-0F6BC8DBD81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7962B77-E9EC-9765-E3E8-6DCFAA12D0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E90DF-8F78-029B-D074-35AEAA6696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7ABB5C-58A3-4621-612B-B17A010F4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82976B-D039-9DBE-BDD6-0942244D9E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C549A1F-480A-2838-0E41-87A05D1D3A4F}"/>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8" name="Footer Placeholder 7">
            <a:extLst>
              <a:ext uri="{FF2B5EF4-FFF2-40B4-BE49-F238E27FC236}">
                <a16:creationId xmlns:a16="http://schemas.microsoft.com/office/drawing/2014/main" id="{57346401-F11F-7D3C-4419-730F2DCA406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58C478-39F6-EAE7-9FD3-ABA4325DB90F}"/>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99892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9EDD-854F-9F92-00C9-8DB337B7024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F87D858-C943-3604-D946-EE6DFCE9481A}"/>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4" name="Footer Placeholder 3">
            <a:extLst>
              <a:ext uri="{FF2B5EF4-FFF2-40B4-BE49-F238E27FC236}">
                <a16:creationId xmlns:a16="http://schemas.microsoft.com/office/drawing/2014/main" id="{00450146-EB8F-704A-774F-0BE38E959B2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9C225F-B14D-3736-5493-53C39A835741}"/>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225329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43AD5-40A0-6681-D5AA-926A5AEE09B1}"/>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3" name="Footer Placeholder 2">
            <a:extLst>
              <a:ext uri="{FF2B5EF4-FFF2-40B4-BE49-F238E27FC236}">
                <a16:creationId xmlns:a16="http://schemas.microsoft.com/office/drawing/2014/main" id="{439398C4-74F4-8641-E07C-F13BF03AD11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0D9CAA1-D1C7-0832-8933-3E78FEF8AB8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401693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171C-98C3-8179-7274-7386ECF00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D355A97-D0BE-DF04-69E8-DD982C2D3B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863894A-14A5-B6A2-256E-2A8A39BC6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94145-F4A3-496E-8362-9CFC5885A495}"/>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6FDCA442-7578-DA7B-2358-C60ED436A1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0F500D-4C9B-D63C-CF5B-2703125815C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2990812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93C9-C621-E0F9-4465-4C7F7676A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B122C33-0A75-C9B7-98B8-F122924EA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E1F75CB-DBFF-EFB7-07CB-23FB0A087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BAE2E-72A0-08D8-E61A-D1536F2B433C}"/>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5BA02581-BEF4-A13F-13C3-666C70D267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9981AF-5DCD-6D4C-7E49-850D27F80262}"/>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7427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52D2-1E60-967A-99D4-51517612E71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BA6B76-3B20-3765-F857-1E92ACF188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61E49B-41B4-C7DE-2219-B17AD8C96DBB}"/>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B8329806-7431-99D3-6717-1C4DBF5B7C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46AC0-2A27-0F23-C355-EE85A34A6CDE}"/>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35468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45884-2779-FA47-2207-B832B4AAD3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A694D2-9472-64D1-74D3-59E361B0EF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31E0B0-032D-E52F-C25C-5F312D63F925}"/>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EAEA9F16-139C-928A-473B-24F63B20B1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3ECBEC-5980-2F61-BF30-EEBEEF092CD1}"/>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224290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61F38-C2F5-928A-0623-C87E4E01BA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92C777D-437F-FF40-9623-6743ACFF89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74F9A-19EA-4CA3-57D2-062E2DEAF1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19B4F79F-C659-C7AF-59BA-9C14F0A028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3DA5F-18B6-67FE-244A-2F2BBF997B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6AFDA-01E1-413F-9485-75BEF0CA0FF9}" type="slidenum">
              <a:rPr lang="en-GB" smtClean="0"/>
              <a:t>‹#›</a:t>
            </a:fld>
            <a:endParaRPr lang="en-GB"/>
          </a:p>
        </p:txBody>
      </p:sp>
    </p:spTree>
    <p:extLst>
      <p:ext uri="{BB962C8B-B14F-4D97-AF65-F5344CB8AC3E}">
        <p14:creationId xmlns:p14="http://schemas.microsoft.com/office/powerpoint/2010/main" val="36964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3A00-6AC4-53E4-49C1-9DC8D23976F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7327D90-44DC-438B-F830-A34F5AC7742D}"/>
              </a:ext>
            </a:extLst>
          </p:cNvPr>
          <p:cNvSpPr txBox="1"/>
          <p:nvPr/>
        </p:nvSpPr>
        <p:spPr>
          <a:xfrm>
            <a:off x="529239" y="1171064"/>
            <a:ext cx="11133521" cy="1469826"/>
          </a:xfrm>
          <a:prstGeom prst="rect">
            <a:avLst/>
          </a:prstGeom>
          <a:noFill/>
        </p:spPr>
        <p:txBody>
          <a:bodyPr wrap="square">
            <a:spAutoFit/>
          </a:bodyPr>
          <a:lstStyle/>
          <a:p>
            <a:pPr marL="0" marR="0" algn="just">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Data Link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data link layer is located between the network layer and the physical layer and provides services for protocols such as IP and IPv6 at the network layer. PDUs transmitted at the data link layer are called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frames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Ethernet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is the most common data link layer protocol.</a:t>
            </a:r>
          </a:p>
        </p:txBody>
      </p:sp>
      <p:sp>
        <p:nvSpPr>
          <p:cNvPr id="10" name="TextBox 9">
            <a:extLst>
              <a:ext uri="{FF2B5EF4-FFF2-40B4-BE49-F238E27FC236}">
                <a16:creationId xmlns:a16="http://schemas.microsoft.com/office/drawing/2014/main" id="{E15B239A-F2FC-0C4C-489E-F2088D0D9BF0}"/>
              </a:ext>
            </a:extLst>
          </p:cNvPr>
          <p:cNvSpPr txBox="1"/>
          <p:nvPr/>
        </p:nvSpPr>
        <p:spPr>
          <a:xfrm>
            <a:off x="709847" y="2950661"/>
            <a:ext cx="10409970" cy="1572418"/>
          </a:xfrm>
          <a:prstGeom prst="rect">
            <a:avLst/>
          </a:prstGeom>
          <a:noFill/>
        </p:spPr>
        <p:txBody>
          <a:bodyPr wrap="square">
            <a:spAutoFit/>
          </a:bodyPr>
          <a:lstStyle/>
          <a:p>
            <a:pPr marL="0" marR="0" algn="just">
              <a:lnSpc>
                <a:spcPct val="107000"/>
              </a:lnSpc>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data link layer is located between the network layer and the physical layer.</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data link layer provides intra-segment communication for the network layer.</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functions of the data link layer include framing, physical addressing, and error control.</a:t>
            </a:r>
          </a:p>
          <a:p>
            <a:pPr marL="342900" marR="0" lvl="0" indent="-342900" algn="just">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Common data link layer protocols include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Ethernet</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kern="100" dirty="0" err="1">
                <a:effectLst/>
                <a:latin typeface="Calibri" panose="020F0502020204030204" pitchFamily="34" charset="0"/>
                <a:ea typeface="Calibri" panose="020F0502020204030204" pitchFamily="34" charset="0"/>
                <a:cs typeface="Times New Roman" panose="02020603050405020304" pitchFamily="18" charset="0"/>
              </a:rPr>
              <a:t>PPPoE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PPP</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Picture 15">
            <a:extLst>
              <a:ext uri="{FF2B5EF4-FFF2-40B4-BE49-F238E27FC236}">
                <a16:creationId xmlns:a16="http://schemas.microsoft.com/office/drawing/2014/main" id="{0CEFAF16-8004-6EAB-52EE-0834E9A053D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829744" y="5227968"/>
            <a:ext cx="9897396" cy="1022190"/>
          </a:xfrm>
          <a:prstGeom prst="rect">
            <a:avLst/>
          </a:prstGeom>
        </p:spPr>
      </p:pic>
      <p:sp>
        <p:nvSpPr>
          <p:cNvPr id="17" name="TextBox 16">
            <a:extLst>
              <a:ext uri="{FF2B5EF4-FFF2-40B4-BE49-F238E27FC236}">
                <a16:creationId xmlns:a16="http://schemas.microsoft.com/office/drawing/2014/main" id="{E4FFEA8B-805C-2BEA-173A-87AE3E69267C}"/>
              </a:ext>
            </a:extLst>
          </p:cNvPr>
          <p:cNvSpPr txBox="1"/>
          <p:nvPr/>
        </p:nvSpPr>
        <p:spPr>
          <a:xfrm>
            <a:off x="952576" y="6182891"/>
            <a:ext cx="2388346" cy="369332"/>
          </a:xfrm>
          <a:prstGeom prst="rect">
            <a:avLst/>
          </a:prstGeom>
          <a:noFill/>
        </p:spPr>
        <p:txBody>
          <a:bodyPr wrap="none" rtlCol="0">
            <a:spAutoFit/>
          </a:bodyPr>
          <a:lstStyle/>
          <a:p>
            <a:r>
              <a:rPr lang="en-US" b="1" dirty="0"/>
              <a:t>Standard TCP/IP model</a:t>
            </a:r>
            <a:endParaRPr lang="en-GB" b="1" dirty="0"/>
          </a:p>
        </p:txBody>
      </p:sp>
      <p:sp>
        <p:nvSpPr>
          <p:cNvPr id="18" name="TextBox 17">
            <a:extLst>
              <a:ext uri="{FF2B5EF4-FFF2-40B4-BE49-F238E27FC236}">
                <a16:creationId xmlns:a16="http://schemas.microsoft.com/office/drawing/2014/main" id="{D333E9F6-E0EA-308A-95CD-16980A5F0A73}"/>
              </a:ext>
            </a:extLst>
          </p:cNvPr>
          <p:cNvSpPr txBox="1"/>
          <p:nvPr/>
        </p:nvSpPr>
        <p:spPr>
          <a:xfrm>
            <a:off x="5391793" y="6173392"/>
            <a:ext cx="1168910" cy="369332"/>
          </a:xfrm>
          <a:prstGeom prst="rect">
            <a:avLst/>
          </a:prstGeom>
          <a:noFill/>
        </p:spPr>
        <p:txBody>
          <a:bodyPr wrap="none" rtlCol="0">
            <a:spAutoFit/>
          </a:bodyPr>
          <a:lstStyle/>
          <a:p>
            <a:r>
              <a:rPr lang="en-US" b="1" dirty="0"/>
              <a:t>OSI model</a:t>
            </a:r>
            <a:endParaRPr lang="en-GB" b="1" dirty="0"/>
          </a:p>
        </p:txBody>
      </p:sp>
      <p:sp>
        <p:nvSpPr>
          <p:cNvPr id="19" name="TextBox 18">
            <a:extLst>
              <a:ext uri="{FF2B5EF4-FFF2-40B4-BE49-F238E27FC236}">
                <a16:creationId xmlns:a16="http://schemas.microsoft.com/office/drawing/2014/main" id="{769B1921-68BC-302F-4AC3-C5492F64A327}"/>
              </a:ext>
            </a:extLst>
          </p:cNvPr>
          <p:cNvSpPr txBox="1"/>
          <p:nvPr/>
        </p:nvSpPr>
        <p:spPr>
          <a:xfrm>
            <a:off x="8418251" y="6173392"/>
            <a:ext cx="2581669" cy="369332"/>
          </a:xfrm>
          <a:prstGeom prst="rect">
            <a:avLst/>
          </a:prstGeom>
          <a:noFill/>
        </p:spPr>
        <p:txBody>
          <a:bodyPr wrap="none" rtlCol="0">
            <a:spAutoFit/>
          </a:bodyPr>
          <a:lstStyle/>
          <a:p>
            <a:r>
              <a:rPr lang="en-US" b="1" dirty="0"/>
              <a:t>Equivalent  TCP/IP model</a:t>
            </a:r>
            <a:endParaRPr lang="en-GB" b="1" dirty="0"/>
          </a:p>
        </p:txBody>
      </p:sp>
      <p:sp>
        <p:nvSpPr>
          <p:cNvPr id="23" name="TextBox 22">
            <a:extLst>
              <a:ext uri="{FF2B5EF4-FFF2-40B4-BE49-F238E27FC236}">
                <a16:creationId xmlns:a16="http://schemas.microsoft.com/office/drawing/2014/main" id="{CF9D66C4-A96B-FABF-86C0-F57D930238DE}"/>
              </a:ext>
            </a:extLst>
          </p:cNvPr>
          <p:cNvSpPr txBox="1"/>
          <p:nvPr/>
        </p:nvSpPr>
        <p:spPr>
          <a:xfrm>
            <a:off x="5220571" y="4901090"/>
            <a:ext cx="1388522" cy="369332"/>
          </a:xfrm>
          <a:prstGeom prst="rect">
            <a:avLst/>
          </a:prstGeom>
          <a:noFill/>
        </p:spPr>
        <p:txBody>
          <a:bodyPr wrap="none" rtlCol="0">
            <a:spAutoFit/>
          </a:bodyPr>
          <a:lstStyle/>
          <a:p>
            <a:r>
              <a:rPr lang="en-US" b="1" u="sng" dirty="0"/>
              <a:t>OSI MAPING</a:t>
            </a:r>
            <a:endParaRPr lang="en-GB" b="1" u="sng" dirty="0"/>
          </a:p>
        </p:txBody>
      </p:sp>
      <p:sp>
        <p:nvSpPr>
          <p:cNvPr id="4" name="TextBox 3">
            <a:extLst>
              <a:ext uri="{FF2B5EF4-FFF2-40B4-BE49-F238E27FC236}">
                <a16:creationId xmlns:a16="http://schemas.microsoft.com/office/drawing/2014/main" id="{4B4282D9-D91E-98C1-5343-EDFDF1EED811}"/>
              </a:ext>
            </a:extLst>
          </p:cNvPr>
          <p:cNvSpPr txBox="1"/>
          <p:nvPr/>
        </p:nvSpPr>
        <p:spPr>
          <a:xfrm>
            <a:off x="4633416" y="510576"/>
            <a:ext cx="6093724" cy="375552"/>
          </a:xfrm>
          <a:prstGeom prst="rect">
            <a:avLst/>
          </a:prstGeom>
          <a:noFill/>
        </p:spPr>
        <p:txBody>
          <a:bodyPr wrap="square">
            <a:spAutoFit/>
          </a:bodyPr>
          <a:lstStyle/>
          <a:p>
            <a:pPr marL="0" marR="0" algn="just">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DATA LINK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03106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EE8C3-47FD-E341-9427-1847FE1EF1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FA8C85-14FF-C10F-C564-859C05CC320B}"/>
              </a:ext>
            </a:extLst>
          </p:cNvPr>
          <p:cNvSpPr txBox="1"/>
          <p:nvPr/>
        </p:nvSpPr>
        <p:spPr>
          <a:xfrm>
            <a:off x="959323" y="4519089"/>
            <a:ext cx="10273353" cy="1766189"/>
          </a:xfrm>
          <a:prstGeom prst="rect">
            <a:avLst/>
          </a:prstGeom>
          <a:noFill/>
        </p:spPr>
        <p:txBody>
          <a:bodyPr wrap="square">
            <a:spAutoFit/>
          </a:bodyPr>
          <a:lstStyle/>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Media Access Control (MAC)</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address uniquely identifies 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Network Interface Card (NIC)</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on a network. Each NIC requires and has a unique MAC address.</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MAC addresses are used to locate specific physical devices in an IP network segment.</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device that works at the data link layer, such as an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Ethernet switch</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maintains 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MAC address table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to guide data frame forwarding.</a:t>
            </a:r>
          </a:p>
        </p:txBody>
      </p:sp>
      <p:pic>
        <p:nvPicPr>
          <p:cNvPr id="21" name="Picture 20">
            <a:extLst>
              <a:ext uri="{FF2B5EF4-FFF2-40B4-BE49-F238E27FC236}">
                <a16:creationId xmlns:a16="http://schemas.microsoft.com/office/drawing/2014/main" id="{EB2ECDE3-98D9-549D-FC2B-4D41CBC7842A}"/>
              </a:ext>
            </a:extLst>
          </p:cNvPr>
          <p:cNvPicPr>
            <a:picLocks noChangeAspect="1"/>
          </p:cNvPicPr>
          <p:nvPr/>
        </p:nvPicPr>
        <p:blipFill>
          <a:blip r:embed="rId2">
            <a:extLst>
              <a:ext uri="{28A0092B-C50C-407E-A947-70E740481C1C}">
                <a14:useLocalDpi xmlns:a14="http://schemas.microsoft.com/office/drawing/2010/main" val="0"/>
              </a:ext>
            </a:extLst>
          </a:blip>
          <a:srcRect b="17560"/>
          <a:stretch>
            <a:fillRect/>
          </a:stretch>
        </p:blipFill>
        <p:spPr>
          <a:xfrm>
            <a:off x="1479398" y="731912"/>
            <a:ext cx="8852056" cy="3459629"/>
          </a:xfrm>
          <a:prstGeom prst="rect">
            <a:avLst/>
          </a:prstGeom>
        </p:spPr>
      </p:pic>
      <p:sp>
        <p:nvSpPr>
          <p:cNvPr id="22" name="TextBox 21">
            <a:extLst>
              <a:ext uri="{FF2B5EF4-FFF2-40B4-BE49-F238E27FC236}">
                <a16:creationId xmlns:a16="http://schemas.microsoft.com/office/drawing/2014/main" id="{6358C9D0-35E6-30C1-CDD6-7DB329F78CB4}"/>
              </a:ext>
            </a:extLst>
          </p:cNvPr>
          <p:cNvSpPr txBox="1"/>
          <p:nvPr/>
        </p:nvSpPr>
        <p:spPr>
          <a:xfrm>
            <a:off x="3166283" y="362580"/>
            <a:ext cx="4858601" cy="369332"/>
          </a:xfrm>
          <a:prstGeom prst="rect">
            <a:avLst/>
          </a:prstGeom>
          <a:noFill/>
        </p:spPr>
        <p:txBody>
          <a:bodyPr wrap="square" rtlCol="0">
            <a:spAutoFit/>
          </a:bodyPr>
          <a:lstStyle/>
          <a:p>
            <a:pPr algn="ctr"/>
            <a:r>
              <a:rPr lang="en-US" b="1" dirty="0"/>
              <a:t>DATA ENCAPSULATION AT THE SENDER </a:t>
            </a:r>
            <a:endParaRPr lang="en-GB" b="1" dirty="0"/>
          </a:p>
        </p:txBody>
      </p:sp>
    </p:spTree>
    <p:extLst>
      <p:ext uri="{BB962C8B-B14F-4D97-AF65-F5344CB8AC3E}">
        <p14:creationId xmlns:p14="http://schemas.microsoft.com/office/powerpoint/2010/main" val="3691886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534F6-64A9-DFA8-AEEB-1FF9F9919AE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AFD53B09-E31B-5DB7-85A2-413C2A1E023C}"/>
              </a:ext>
            </a:extLst>
          </p:cNvPr>
          <p:cNvPicPr>
            <a:picLocks noChangeAspect="1"/>
          </p:cNvPicPr>
          <p:nvPr/>
        </p:nvPicPr>
        <p:blipFill>
          <a:blip r:embed="rId2"/>
          <a:stretch>
            <a:fillRect/>
          </a:stretch>
        </p:blipFill>
        <p:spPr>
          <a:xfrm>
            <a:off x="7730813" y="640941"/>
            <a:ext cx="3218737" cy="2111841"/>
          </a:xfrm>
          <a:prstGeom prst="rect">
            <a:avLst/>
          </a:prstGeom>
        </p:spPr>
      </p:pic>
      <p:sp>
        <p:nvSpPr>
          <p:cNvPr id="9" name="TextBox 8">
            <a:extLst>
              <a:ext uri="{FF2B5EF4-FFF2-40B4-BE49-F238E27FC236}">
                <a16:creationId xmlns:a16="http://schemas.microsoft.com/office/drawing/2014/main" id="{ABCF5174-ED51-6B59-CED1-4668B3FCEB67}"/>
              </a:ext>
            </a:extLst>
          </p:cNvPr>
          <p:cNvSpPr txBox="1"/>
          <p:nvPr/>
        </p:nvSpPr>
        <p:spPr>
          <a:xfrm>
            <a:off x="296341" y="2686498"/>
            <a:ext cx="8123187" cy="1173463"/>
          </a:xfrm>
          <a:prstGeom prst="rect">
            <a:avLst/>
          </a:prstGeom>
          <a:noFill/>
        </p:spPr>
        <p:txBody>
          <a:bodyPr wrap="square">
            <a:spAutoFit/>
          </a:bodyPr>
          <a:lstStyle/>
          <a:p>
            <a:pPr marL="0" marR="0">
              <a:lnSpc>
                <a:spcPct val="107000"/>
              </a:lnSpc>
              <a:spcAft>
                <a:spcPts val="800"/>
              </a:spcAft>
              <a:buNone/>
            </a:pPr>
            <a:r>
              <a:rPr lang="en-GB" b="1" kern="100" dirty="0">
                <a:effectLst/>
                <a:latin typeface="Calibri" panose="020F0502020204030204" pitchFamily="34" charset="0"/>
                <a:ea typeface="Calibri" panose="020F0502020204030204" pitchFamily="34" charset="0"/>
                <a:cs typeface="Times New Roman" panose="02020603050405020304" pitchFamily="18" charset="0"/>
              </a:rPr>
              <a:t>               ARP</a:t>
            </a:r>
            <a:endParaRPr lang="en-GB"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b="1" kern="100" dirty="0">
                <a:effectLst/>
                <a:latin typeface="Calibri" panose="020F0502020204030204" pitchFamily="34" charset="0"/>
                <a:ea typeface="Calibri" panose="020F0502020204030204" pitchFamily="34" charset="0"/>
                <a:cs typeface="Times New Roman" panose="02020603050405020304" pitchFamily="18" charset="0"/>
              </a:rPr>
              <a:t>Address Resolution Protocol (ARP):</a:t>
            </a:r>
            <a:r>
              <a:rPr lang="en-GB"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lnSpc>
                <a:spcPct val="107000"/>
              </a:lnSpc>
              <a:spcAft>
                <a:spcPts val="800"/>
              </a:spcAft>
              <a:buSzPts val="1000"/>
              <a:buFont typeface="Courier New" panose="02070309020205020404" pitchFamily="49" charset="0"/>
              <a:buChar char="o"/>
              <a:tabLst>
                <a:tab pos="914400" algn="l"/>
              </a:tabLst>
            </a:pPr>
            <a:r>
              <a:rPr lang="en-GB" kern="100" dirty="0">
                <a:effectLst/>
                <a:latin typeface="Calibri" panose="020F0502020204030204" pitchFamily="34" charset="0"/>
                <a:ea typeface="Calibri" panose="020F0502020204030204" pitchFamily="34" charset="0"/>
                <a:cs typeface="Times New Roman" panose="02020603050405020304" pitchFamily="18" charset="0"/>
              </a:rPr>
              <a:t>Discovers the </a:t>
            </a:r>
            <a:r>
              <a:rPr lang="en-GB" b="1" kern="100" dirty="0">
                <a:effectLst/>
                <a:latin typeface="Calibri" panose="020F0502020204030204" pitchFamily="34" charset="0"/>
                <a:ea typeface="Calibri" panose="020F0502020204030204" pitchFamily="34" charset="0"/>
                <a:cs typeface="Times New Roman" panose="02020603050405020304" pitchFamily="18" charset="0"/>
              </a:rPr>
              <a:t>MAC address</a:t>
            </a:r>
            <a:r>
              <a:rPr lang="en-GB" kern="100" dirty="0">
                <a:effectLst/>
                <a:latin typeface="Calibri" panose="020F0502020204030204" pitchFamily="34" charset="0"/>
                <a:ea typeface="Calibri" panose="020F0502020204030204" pitchFamily="34" charset="0"/>
                <a:cs typeface="Times New Roman" panose="02020603050405020304" pitchFamily="18" charset="0"/>
              </a:rPr>
              <a:t> associated with a given </a:t>
            </a:r>
            <a:r>
              <a:rPr lang="en-GB" b="1" kern="100" dirty="0">
                <a:effectLst/>
                <a:latin typeface="Calibri" panose="020F0502020204030204" pitchFamily="34" charset="0"/>
                <a:ea typeface="Calibri" panose="020F0502020204030204" pitchFamily="34" charset="0"/>
                <a:cs typeface="Times New Roman" panose="02020603050405020304" pitchFamily="18" charset="0"/>
              </a:rPr>
              <a:t>IP address</a:t>
            </a:r>
            <a:r>
              <a:rPr lang="en-GB"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15" name="TextBox 14">
            <a:extLst>
              <a:ext uri="{FF2B5EF4-FFF2-40B4-BE49-F238E27FC236}">
                <a16:creationId xmlns:a16="http://schemas.microsoft.com/office/drawing/2014/main" id="{D03BE777-21DD-4D32-A67A-AFC9988B5FB7}"/>
              </a:ext>
            </a:extLst>
          </p:cNvPr>
          <p:cNvSpPr txBox="1"/>
          <p:nvPr/>
        </p:nvSpPr>
        <p:spPr>
          <a:xfrm>
            <a:off x="588840" y="1044842"/>
            <a:ext cx="6664732" cy="1025922"/>
          </a:xfrm>
          <a:prstGeom prst="rect">
            <a:avLst/>
          </a:prstGeom>
          <a:noFill/>
        </p:spPr>
        <p:txBody>
          <a:bodyPr wrap="square">
            <a:spAutoFit/>
          </a:bodyPr>
          <a:lstStyle/>
          <a:p>
            <a:pPr marL="0" marR="0" algn="just">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MAC address</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is recognizable as six groups of two hexadecimal digits, separated by hyphens, colons, or written without a separator.</a:t>
            </a:r>
          </a:p>
          <a:p>
            <a:pPr marL="0" marR="0" algn="just">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Example: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48-A4-72-1C-8F-4F</a:t>
            </a:r>
          </a:p>
        </p:txBody>
      </p:sp>
      <p:pic>
        <p:nvPicPr>
          <p:cNvPr id="17" name="Picture 16">
            <a:extLst>
              <a:ext uri="{FF2B5EF4-FFF2-40B4-BE49-F238E27FC236}">
                <a16:creationId xmlns:a16="http://schemas.microsoft.com/office/drawing/2014/main" id="{2A837EE2-121F-FB79-CF6B-CB32A4E0DF8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807206" y="4195524"/>
            <a:ext cx="9947230" cy="2132501"/>
          </a:xfrm>
          <a:prstGeom prst="rect">
            <a:avLst/>
          </a:prstGeom>
        </p:spPr>
      </p:pic>
    </p:spTree>
    <p:extLst>
      <p:ext uri="{BB962C8B-B14F-4D97-AF65-F5344CB8AC3E}">
        <p14:creationId xmlns:p14="http://schemas.microsoft.com/office/powerpoint/2010/main" val="2974018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2893</TotalTime>
  <Words>252</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Courier New</vt:lpstr>
      <vt:lpstr>Symbol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Ibrahim, Mohammed</dc:creator>
  <cp:lastModifiedBy>Mohammed Ibrahim</cp:lastModifiedBy>
  <cp:revision>82</cp:revision>
  <dcterms:created xsi:type="dcterms:W3CDTF">2026-03-30T22:33:57Z</dcterms:created>
  <dcterms:modified xsi:type="dcterms:W3CDTF">2026-10-01T21:29:06Z</dcterms:modified>
</cp:coreProperties>
</file>